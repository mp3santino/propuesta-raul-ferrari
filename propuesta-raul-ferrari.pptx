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7772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978408"/>
            <a:ext cx="1426464" cy="1426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2880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EAB308"/>
                </a:solidFill>
                <a:latin typeface="Segoe UI Semibold"/>
              </a:rPr>
              <a:t>PROPUESTA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3756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0">
                <a:solidFill>
                  <a:srgbClr val="FFFFFF"/>
                </a:solidFill>
                <a:latin typeface="Georgia"/>
              </a:rPr>
              <a:t>Más consultas para tu inmobiliaria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9204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4CCE6"/>
                </a:solidFill>
                <a:latin typeface="Segoe UI"/>
              </a:rPr>
              <a:t>Un sistema para conseguir compradores reales en Tandil — todos los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053328"/>
            <a:ext cx="10515600" cy="11887"/>
          </a:xfrm>
          <a:prstGeom prst="rect">
            <a:avLst/>
          </a:prstGeom>
          <a:solidFill>
            <a:srgbClr val="33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00">
                <a:solidFill>
                  <a:srgbClr val="8B97C4"/>
                </a:solidFill>
                <a:latin typeface="Segoe UI"/>
              </a:rPr>
              <a:t>PREPARADO PARA  </a:t>
            </a:r>
            <a:r>
              <a:rPr sz="1000" b="1" spc="100">
                <a:solidFill>
                  <a:srgbClr val="FFFFFF"/>
                </a:solidFill>
                <a:latin typeface="Segoe UI"/>
              </a:rPr>
              <a:t>INMOBILIARIA RAÚL FERRARI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00">
                <a:solidFill>
                  <a:srgbClr val="8B97C4"/>
                </a:solidFill>
                <a:latin typeface="Segoe UI"/>
              </a:rPr>
              <a:t>SANTINO MARCONI · 30/06/2026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LA SITUACIÓN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Publicás mucho. Casi nadie lo 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16225A"/>
                </a:solidFill>
                <a:latin typeface="Georgia"/>
              </a:rPr>
              <a:t>3.541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03320"/>
            <a:ext cx="502920" cy="3657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3192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seguidores en 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24688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16225A"/>
                </a:solidFill>
                <a:latin typeface="Georgia"/>
              </a:rPr>
              <a:t>1,9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3703320"/>
            <a:ext cx="502920" cy="3657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393192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“me gusta” por publicación, en promedio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4688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16225A"/>
                </a:solidFill>
                <a:latin typeface="Georgia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3568" y="3703320"/>
            <a:ext cx="502920" cy="3657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393192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comentarios en tus últimas publicaciones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Datos de tu cuenta de Instagram · junio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4CCE6"/>
                </a:solidFill>
                <a:latin typeface="Segoe UI Semibold"/>
              </a:rPr>
              <a:t>MIENTRAS TANTO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FFFFFF"/>
                </a:solidFill>
                <a:latin typeface="Georgia"/>
              </a:rPr>
              <a:t>Tu competencia ya está pagando publicidad.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FFFFFF"/>
                </a:solidFill>
                <a:latin typeface="Georgia"/>
              </a:rPr>
              <a:t>Más de </a:t>
            </a:r>
            <a:r>
              <a:rPr sz="2700" b="0">
                <a:solidFill>
                  <a:srgbClr val="EAB308"/>
                </a:solidFill>
                <a:latin typeface="Georgia"/>
              </a:rPr>
              <a:t>10 inmobiliarias de Tandil</a:t>
            </a:r>
            <a:r>
              <a:rPr sz="2700" b="0">
                <a:solidFill>
                  <a:srgbClr val="FFFFFF"/>
                </a:solidFill>
                <a:latin typeface="Georgia"/>
              </a:rPr>
              <a:t> tienen avisos pagos en Facebook e Instagram en este momento.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FFFFFF"/>
                </a:solidFill>
                <a:latin typeface="Georgia"/>
              </a:rPr>
              <a:t>Aparecen frente a los compradores todos los días. </a:t>
            </a:r>
            <a:r>
              <a:rPr sz="2700" b="0">
                <a:solidFill>
                  <a:srgbClr val="EAB308"/>
                </a:solidFill>
                <a:latin typeface="Georgia"/>
              </a:rPr>
              <a:t>Hoy vos no estás ahí.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33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FFFFFF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8B97C4"/>
                </a:solidFill>
                <a:latin typeface="Segoe UI"/>
              </a:rPr>
              <a:t>Biblioteca de Anuncios de Meta · junio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8B97C4"/>
                </a:solidFill>
                <a:latin typeface="Segoe U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MI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Poner tus propiedades adelante de quien busca.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9692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D29"/>
                </a:solidFill>
                <a:latin typeface="Georgia"/>
              </a:rPr>
              <a:t>Me encargo de mostrar tus propiedades con publicidad paga a la gente que está buscando comprar en Tandil y la zona, y de que esas </a:t>
            </a:r>
            <a:r>
              <a:rPr sz="2600" b="1">
                <a:solidFill>
                  <a:srgbClr val="2A3F9E"/>
                </a:solidFill>
                <a:latin typeface="Georgia"/>
              </a:rPr>
              <a:t>consultas te lleguen directo al WhatsApp</a:t>
            </a:r>
            <a:r>
              <a:rPr sz="2600" b="0">
                <a:solidFill>
                  <a:srgbClr val="1A1D29"/>
                </a:solidFill>
                <a:latin typeface="Georgia"/>
              </a:rPr>
              <a:t>, ordenadas y listas para atender.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Tres pasos, simple.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B308"/>
                </a:solidFill>
                <a:latin typeface="Georg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291840"/>
            <a:ext cx="324612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4747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16225A"/>
                </a:solidFill>
                <a:latin typeface="Georgia"/>
              </a:rPr>
              <a:t>Mostramos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14800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Tus propiedades aparecen como avisos pagos frente a compradores de Tandil y la región.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24688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B308"/>
                </a:solidFill>
                <a:latin typeface="Georg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416" y="3291840"/>
            <a:ext cx="324612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34747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16225A"/>
                </a:solidFill>
                <a:latin typeface="Georgia"/>
              </a:rPr>
              <a:t>Consultan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4114800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El interesado deja su nombre y teléfono, o te escribe directo por WhatsApp.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4" y="24688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B308"/>
                </a:solidFill>
                <a:latin typeface="Georg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3291840"/>
            <a:ext cx="324612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34747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16225A"/>
                </a:solidFill>
                <a:latin typeface="Georgia"/>
              </a:rPr>
              <a:t>Vendés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4" y="4114800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Vos atendés la consulta, coordinás la visita y cerrás la operación.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4CCE6"/>
                </a:solidFill>
                <a:latin typeface="Segoe UI Semibold"/>
              </a:rPr>
              <a:t>LO MÁS VALIOSO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0">
                <a:solidFill>
                  <a:srgbClr val="FFFFFF"/>
                </a:solidFill>
                <a:latin typeface="Georgia"/>
              </a:rPr>
              <a:t>El premio no es una propiedad. Son los clientes.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Georgia"/>
              </a:rPr>
              <a:t>Cada persona que consulta por un aviso queda como </a:t>
            </a:r>
            <a:r>
              <a:rPr sz="2400" b="0">
                <a:solidFill>
                  <a:srgbClr val="EAB308"/>
                </a:solidFill>
                <a:latin typeface="Georgia"/>
              </a:rPr>
              <a:t>comprador interesado</a:t>
            </a:r>
            <a:r>
              <a:rPr sz="2400" b="0">
                <a:solidFill>
                  <a:srgbClr val="FFFFFF"/>
                </a:solidFill>
                <a:latin typeface="Georgia"/>
              </a:rPr>
              <a:t>. Aunque no compre esa propiedad, ya sabés qué busca y cuánto puede pagar — y le ofrecés otra de tu cartera.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26280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Georgia"/>
              </a:rPr>
              <a:t>Cada campaña te va armando una </a:t>
            </a:r>
            <a:r>
              <a:rPr sz="2400" b="0">
                <a:solidFill>
                  <a:srgbClr val="EAB308"/>
                </a:solidFill>
                <a:latin typeface="Georgia"/>
              </a:rPr>
              <a:t>lista de compradores reales</a:t>
            </a:r>
            <a:r>
              <a:rPr sz="2400" b="0">
                <a:solidFill>
                  <a:srgbClr val="FFFFFF"/>
                </a:solidFill>
                <a:latin typeface="Georgia"/>
              </a:rPr>
              <a:t> de Tandil. Eso es lo que de verdad hace crecer tu inmobiliaria.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33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FFFFFF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8B97C4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8B97C4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PARA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Arrancamos con estas propiedades.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pto-cabral-50k.jpg"/>
          <p:cNvPicPr>
            <a:picLocks noChangeAspect="1"/>
          </p:cNvPicPr>
          <p:nvPr/>
        </p:nvPicPr>
        <p:blipFill>
          <a:blip r:embed="rId2"/>
          <a:srcRect t="20076" b="20076"/>
          <a:stretch>
            <a:fillRect/>
          </a:stretch>
        </p:blipFill>
        <p:spPr>
          <a:xfrm>
            <a:off x="841248" y="2331720"/>
            <a:ext cx="2395728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251960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9"/>
                </a:solidFill>
                <a:latin typeface="Georgia"/>
              </a:rPr>
              <a:t>Depto Cabral 531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274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3F9E"/>
                </a:solidFill>
                <a:latin typeface="Segoe UI Semibold"/>
              </a:rPr>
              <a:t>U$S 50.000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12064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40">
                <a:solidFill>
                  <a:srgbClr val="5A6275"/>
                </a:solidFill>
                <a:latin typeface="Segoe UI"/>
              </a:rPr>
              <a:t>PRECIO DE ENTRADA</a:t>
            </a:r>
          </a:p>
        </p:txBody>
      </p:sp>
      <p:pic>
        <p:nvPicPr>
          <p:cNvPr id="9" name="Picture 8" descr="depto-sanlorenzo-80k.jpg"/>
          <p:cNvPicPr>
            <a:picLocks noChangeAspect="1"/>
          </p:cNvPicPr>
          <p:nvPr/>
        </p:nvPicPr>
        <p:blipFill>
          <a:blip r:embed="rId3"/>
          <a:srcRect t="20076" b="20076"/>
          <a:stretch>
            <a:fillRect/>
          </a:stretch>
        </p:blipFill>
        <p:spPr>
          <a:xfrm>
            <a:off x="3547872" y="2331720"/>
            <a:ext cx="2395728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7872" y="4251960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9"/>
                </a:solidFill>
                <a:latin typeface="Georgia"/>
              </a:rPr>
              <a:t>Depto San Lorenzo 882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47274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3F9E"/>
                </a:solidFill>
                <a:latin typeface="Segoe UI Semibold"/>
              </a:rPr>
              <a:t>U$S 80.000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512064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40">
                <a:solidFill>
                  <a:srgbClr val="5A6275"/>
                </a:solidFill>
                <a:latin typeface="Segoe UI"/>
              </a:rPr>
              <a:t>LISTO PARA HABITAR</a:t>
            </a:r>
          </a:p>
        </p:txBody>
      </p:sp>
      <p:pic>
        <p:nvPicPr>
          <p:cNvPr id="13" name="Picture 12" descr="casas-riato-apta-credito.jpg"/>
          <p:cNvPicPr>
            <a:picLocks noChangeAspect="1"/>
          </p:cNvPicPr>
          <p:nvPr/>
        </p:nvPicPr>
        <p:blipFill>
          <a:blip r:embed="rId4"/>
          <a:srcRect t="20076" b="20076"/>
          <a:stretch>
            <a:fillRect/>
          </a:stretch>
        </p:blipFill>
        <p:spPr>
          <a:xfrm>
            <a:off x="6254496" y="2331720"/>
            <a:ext cx="2395728" cy="179222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54496" y="2331720"/>
            <a:ext cx="2395728" cy="1792224"/>
          </a:xfrm>
          <a:prstGeom prst="rect">
            <a:avLst/>
          </a:prstGeom>
          <a:noFill/>
          <a:ln w="381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2331720"/>
            <a:ext cx="1417320" cy="3108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235915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40">
                <a:solidFill>
                  <a:srgbClr val="16225A"/>
                </a:solidFill>
                <a:latin typeface="Segoe UI Semibold"/>
              </a:rPr>
              <a:t>APTA CRÉDITO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4251960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9"/>
                </a:solidFill>
                <a:latin typeface="Georgia"/>
              </a:rPr>
              <a:t>Casas a estrenar · Riato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47274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3F9E"/>
                </a:solidFill>
                <a:latin typeface="Segoe UI Semibold"/>
              </a:rPr>
              <a:t>Desde U$S 125.000</a:t>
            </a:r>
          </a:p>
        </p:txBody>
      </p:sp>
      <p:pic>
        <p:nvPicPr>
          <p:cNvPr id="19" name="Picture 18" descr="casa-payro-280k.jpg"/>
          <p:cNvPicPr>
            <a:picLocks noChangeAspect="1"/>
          </p:cNvPicPr>
          <p:nvPr/>
        </p:nvPicPr>
        <p:blipFill>
          <a:blip r:embed="rId5"/>
          <a:srcRect t="20076" b="20076"/>
          <a:stretch>
            <a:fillRect/>
          </a:stretch>
        </p:blipFill>
        <p:spPr>
          <a:xfrm>
            <a:off x="8961120" y="2331720"/>
            <a:ext cx="2395728" cy="1792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61120" y="4251960"/>
            <a:ext cx="23957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9"/>
                </a:solidFill>
                <a:latin typeface="Georgia"/>
              </a:rPr>
              <a:t>Casa Payró 1046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72744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3F9E"/>
                </a:solidFill>
                <a:latin typeface="Segoe UI Semibold"/>
              </a:rPr>
              <a:t>U$S 280.000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512064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40">
                <a:solidFill>
                  <a:srgbClr val="5A6275"/>
                </a:solidFill>
                <a:latin typeface="Segoe UI"/>
              </a:rPr>
              <a:t>GAMA 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32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A6275"/>
                </a:solidFill>
                <a:latin typeface="Georgia"/>
              </a:rPr>
              <a:t>Una por cada rango de precio. Cada una abre la puerta a nuevos compradores, la compren o no.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4CCE6"/>
                </a:solidFill>
                <a:latin typeface="Segoe UI Semibold"/>
              </a:rPr>
              <a:t>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FFFFFF"/>
                </a:solidFill>
                <a:latin typeface="Georgia"/>
              </a:rPr>
              <a:t>Qué pasa una vez que arrancamos.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514600"/>
            <a:ext cx="32004" cy="219456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514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C4CCE6"/>
                </a:solidFill>
                <a:latin typeface="Segoe UI Semibold"/>
              </a:rPr>
              <a:t>PRIMERA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9718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Georgia"/>
              </a:rPr>
              <a:t>Dejo todo funcionando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886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4CCE6"/>
                </a:solidFill>
                <a:latin typeface="Segoe UI"/>
              </a:rPr>
              <a:t>Configuro la publicidad y los avisos. En 7 días está en marcha.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2514600"/>
            <a:ext cx="32004" cy="219456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2514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C4CCE6"/>
                </a:solidFill>
                <a:latin typeface="Segoe UI Semibold"/>
              </a:rPr>
              <a:t>PRIMER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9718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Georgia"/>
              </a:rPr>
              <a:t>Empiezan las consultas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886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4CCE6"/>
                </a:solidFill>
                <a:latin typeface="Segoe UI"/>
              </a:rPr>
              <a:t>Llegan los primeros interesados a tu WhatsApp. Primer informe.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2514600"/>
            <a:ext cx="32004" cy="219456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514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C4CCE6"/>
                </a:solidFill>
                <a:latin typeface="Segoe UI Semibold"/>
              </a:rPr>
              <a:t>MESES 2 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9718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Georgia"/>
              </a:rPr>
              <a:t>Agrandamos lo que funciona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886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4CCE6"/>
                </a:solidFill>
                <a:latin typeface="Segoe UI"/>
              </a:rPr>
              <a:t>Ponemos más donde mejor responde y sumamos propiedades.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33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FFFFFF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8B97C4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8B97C4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LA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Claro y sin sorpresas.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377440"/>
            <a:ext cx="6126480" cy="338328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697480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A1D29"/>
                </a:solidFill>
                <a:latin typeface="Segoe UI"/>
              </a:rPr>
              <a:t>Mi honorario mensual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697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500" b="1">
                <a:solidFill>
                  <a:srgbClr val="16225A"/>
                </a:solidFill>
                <a:latin typeface="Georgia"/>
              </a:rPr>
              <a:t>$500.000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" y="3657600"/>
            <a:ext cx="530352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3776472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A1D29"/>
                </a:solidFill>
                <a:latin typeface="Segoe UI"/>
              </a:rPr>
              <a:t>Publicidad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5A6275"/>
                </a:solidFill>
                <a:latin typeface="Segoe UI"/>
              </a:rPr>
              <a:t>la pagás vos, va directo a 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776472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500" b="1">
                <a:solidFill>
                  <a:srgbClr val="16225A"/>
                </a:solidFill>
                <a:latin typeface="Georgia"/>
              </a:rPr>
              <a:t>$300.000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2728" y="4736592"/>
            <a:ext cx="530352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855464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A1D29"/>
                </a:solidFill>
                <a:latin typeface="Segoe UI"/>
              </a:rPr>
              <a:t>Comisión sobre ventas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5A6275"/>
                </a:solidFill>
                <a:latin typeface="Segoe UI"/>
              </a:rPr>
              <a:t>solo de las operaciones que salen de este trabajo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855464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500" b="1">
                <a:solidFill>
                  <a:srgbClr val="9A7700"/>
                </a:solidFill>
                <a:latin typeface="Georgia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14600"/>
            <a:ext cx="4023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16225A"/>
                </a:solidFill>
                <a:latin typeface="Georgia"/>
              </a:rPr>
              <a:t>Una sola venta cubre meses de trabajo.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0233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A6275"/>
                </a:solidFill>
                <a:latin typeface="Segoe UI"/>
              </a:rPr>
              <a:t>El 10% se cobra únicamente sobre las ventas de clientes que llegan por este sistema.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074920"/>
            <a:ext cx="402336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21208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3F9E"/>
                </a:solidFill>
                <a:latin typeface="Segoe UI"/>
              </a:rPr>
              <a:t>Otra opción: </a:t>
            </a:r>
            <a:r>
              <a:rPr sz="1400" b="0">
                <a:solidFill>
                  <a:srgbClr val="5A6275"/>
                </a:solidFill>
                <a:latin typeface="Segoe UI"/>
              </a:rPr>
              <a:t>$400.000 de honorario + 15% sobre esas ventas.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Compromiso inicial de 90 días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VAS A ESTAR AL TANTO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Un informe claro cada 15 días.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377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A1D29"/>
                </a:solidFill>
                <a:latin typeface="Georgia"/>
              </a:rPr>
              <a:t>Sin vueltas técnicas. Te muestro lo que importa: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16225A"/>
                </a:solidFill>
                <a:latin typeface="Georgia"/>
              </a:rPr>
              <a:t>Consultas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343400"/>
            <a:ext cx="502920" cy="3657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7200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cuántas llegaron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33832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16225A"/>
                </a:solidFill>
                <a:latin typeface="Georgia"/>
              </a:rPr>
              <a:t>Costo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4343400"/>
            <a:ext cx="502920" cy="3657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457200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cuánto costó cada 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832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16225A"/>
                </a:solidFill>
                <a:latin typeface="Georgia"/>
              </a:rPr>
              <a:t>Visitas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4343400"/>
            <a:ext cx="502920" cy="3657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57200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275"/>
                </a:solidFill>
                <a:latin typeface="Segoe UI"/>
              </a:rPr>
              <a:t>cuántas se concretaron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2A3F9E"/>
                </a:solidFill>
                <a:latin typeface="Segoe UI Semibold"/>
              </a:rPr>
              <a:t>EL PRIMER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3268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>
                <a:solidFill>
                  <a:srgbClr val="16225A"/>
                </a:solidFill>
                <a:latin typeface="Georgia"/>
              </a:rPr>
              <a:t>Podemos arrancar esta semana.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47088"/>
            <a:ext cx="548640" cy="41148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560320"/>
            <a:ext cx="457200" cy="457200"/>
          </a:xfrm>
          <a:prstGeom prst="ellipse">
            <a:avLst/>
          </a:prstGeom>
          <a:solidFill>
            <a:srgbClr val="16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596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6032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A1D29"/>
                </a:solidFill>
                <a:latin typeface="Segoe UI"/>
              </a:rPr>
              <a:t>Me das los accesos a tus redes y página.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3374136"/>
            <a:ext cx="868680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429000"/>
            <a:ext cx="457200" cy="457200"/>
          </a:xfrm>
          <a:prstGeom prst="ellipse">
            <a:avLst/>
          </a:prstGeom>
          <a:solidFill>
            <a:srgbClr val="162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655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2900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A1D29"/>
                </a:solidFill>
                <a:latin typeface="Segoe UI"/>
              </a:rPr>
              <a:t>Elegimos juntos las primeras propiedades.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4242816"/>
            <a:ext cx="868680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297680"/>
            <a:ext cx="457200" cy="45720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3342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6225A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9768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1D29"/>
                </a:solidFill>
                <a:latin typeface="Georgia"/>
              </a:rPr>
              <a:t>En 7 días los avisos están funcionando.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5111496"/>
            <a:ext cx="8686800" cy="10972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6309360"/>
            <a:ext cx="10515600" cy="11887"/>
          </a:xfrm>
          <a:prstGeom prst="rect">
            <a:avLst/>
          </a:prstGeom>
          <a:solidFill>
            <a:srgbClr val="DB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400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16225A"/>
                </a:solidFill>
                <a:latin typeface="Segoe UI Semibold"/>
              </a:rPr>
              <a:t>SANTINO MARCONI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400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80">
                <a:solidFill>
                  <a:srgbClr val="5A6275"/>
                </a:solidFill>
                <a:latin typeface="Segoe UI"/>
              </a:rPr>
              <a:t>Propuesta · Raúl Ferrari Negocios Inmobiliarios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100">
                <a:solidFill>
                  <a:srgbClr val="5A6275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18607" y="1234440"/>
            <a:ext cx="1554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7" y="141732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3383280"/>
            <a:ext cx="96012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FFFFFF"/>
                </a:solidFill>
                <a:latin typeface="Georgia"/>
              </a:rPr>
              <a:t>Empecemos a construir tu cartera de compradores.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7448" y="5715000"/>
            <a:ext cx="2743200" cy="10972"/>
          </a:xfrm>
          <a:prstGeom prst="rect">
            <a:avLst/>
          </a:prstGeom>
          <a:solidFill>
            <a:srgbClr val="33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8978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200">
                <a:solidFill>
                  <a:srgbClr val="EAB308"/>
                </a:solidFill>
                <a:latin typeface="Segoe UI Semibold"/>
              </a:rPr>
              <a:t>SANTINO MARCONI · CAPTACIÓN DE CLIENTES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